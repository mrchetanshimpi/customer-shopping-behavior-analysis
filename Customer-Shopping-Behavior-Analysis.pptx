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 Bold" pitchFamily="2" charset="0"/>
      <p:bold r:id="rId13"/>
    </p:embeddedFont>
    <p:embeddedFont>
      <p:font typeface="Montserrat Light" pitchFamily="2" charset="0"/>
      <p:regular r:id="rId14"/>
      <p:italic r:id="rId15"/>
    </p:embeddedFont>
    <p:embeddedFont>
      <p:font typeface="Source Sans 3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76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673191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4445913"/>
            <a:ext cx="74164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Analyzing 3,900 purchases to uncover insights into spending patterns, customer segments, and product preferences that drive strategic business decisions.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65697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083957"/>
            <a:ext cx="29943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3,900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58453" y="420683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3798" y="4705469"/>
            <a:ext cx="29943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Transactions analyzed across all categories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166592" y="3083957"/>
            <a:ext cx="29943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18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261247" y="420683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66592" y="4705469"/>
            <a:ext cx="29943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Columns tracking demographics and behavior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69386" y="3083957"/>
            <a:ext cx="29943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25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564041" y="420683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 Types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69386" y="4705469"/>
            <a:ext cx="29943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Unique items across four categories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72180" y="3083957"/>
            <a:ext cx="2994422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50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10866953" y="420683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72180" y="4705469"/>
            <a:ext cx="299442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Geographic distribution of customers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3798" y="5723453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features include customer demographics (age, gender, location, subscription status), purchase details (item, category, amount, season), and shopping behavior (discounts, reviews, shipping preferences).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11580"/>
            <a:ext cx="745057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Preparation Process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406491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798" y="2795468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863798" y="2979777"/>
            <a:ext cx="401109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3798" y="3478411"/>
            <a:ext cx="41363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Imported dataset using pandas and analyzed structure with df.info() and .describe() for summary statistics.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46965" y="2406491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6965" y="2795468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5246965" y="2979777"/>
            <a:ext cx="400181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Cleaning &amp; Standardization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46965" y="3478411"/>
            <a:ext cx="413635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Handled 37 missing review ratings using median imputation by category. Renamed columns to snake_case format.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30132" y="2406491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30132" y="2795468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3" name="Text 11"/>
          <p:cNvSpPr/>
          <p:nvPr/>
        </p:nvSpPr>
        <p:spPr>
          <a:xfrm>
            <a:off x="9630132" y="2979777"/>
            <a:ext cx="301787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30132" y="3478411"/>
            <a:ext cx="413635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age_group bins and purchase_frequency_days. Verified data consistency and removed redundant promo_code_used column.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3798" y="5390912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3798" y="5779889"/>
            <a:ext cx="12902684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7" name="Text 15"/>
          <p:cNvSpPr/>
          <p:nvPr/>
        </p:nvSpPr>
        <p:spPr>
          <a:xfrm>
            <a:off x="863798" y="5964198"/>
            <a:ext cx="310646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3798" y="6462832"/>
            <a:ext cx="1290268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Connected Python to PostgreSQL and loaded cleaned data for advanced SQL analysis.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01222"/>
            <a:ext cx="834628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Analysis by Gender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550319"/>
            <a:ext cx="7500699" cy="392299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41182" y="6503789"/>
            <a:ext cx="246817" cy="246817"/>
          </a:xfrm>
          <a:prstGeom prst="roundRect">
            <a:avLst>
              <a:gd name="adj" fmla="val 7410"/>
            </a:avLst>
          </a:prstGeom>
          <a:solidFill>
            <a:srgbClr val="232429"/>
          </a:solidFill>
          <a:ln/>
        </p:spPr>
      </p:sp>
      <p:sp>
        <p:nvSpPr>
          <p:cNvPr id="5" name="Text 2"/>
          <p:cNvSpPr/>
          <p:nvPr/>
        </p:nvSpPr>
        <p:spPr>
          <a:xfrm>
            <a:off x="4048958" y="6503789"/>
            <a:ext cx="48899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690348" y="6503789"/>
            <a:ext cx="246817" cy="246817"/>
          </a:xfrm>
          <a:prstGeom prst="roundRect">
            <a:avLst>
              <a:gd name="adj" fmla="val 7410"/>
            </a:avLst>
          </a:prstGeom>
          <a:solidFill>
            <a:srgbClr val="787A8A"/>
          </a:solidFill>
          <a:ln/>
        </p:spPr>
      </p:sp>
      <p:sp>
        <p:nvSpPr>
          <p:cNvPr id="7" name="Text 4"/>
          <p:cNvSpPr/>
          <p:nvPr/>
        </p:nvSpPr>
        <p:spPr>
          <a:xfrm>
            <a:off x="4998125" y="6503789"/>
            <a:ext cx="754975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Female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974336" y="251948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74336" y="3116937"/>
            <a:ext cx="479976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generate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$157,890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revenue compared to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$75,191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from female customers—more than double the contribution.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974336" y="4449485"/>
            <a:ext cx="479976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significant gap suggests opportunities for targeted marketing to increase female customer engagement.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002268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 Performance Insights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2774990"/>
            <a:ext cx="3584734" cy="2472928"/>
          </a:xfrm>
          <a:prstGeom prst="roundRect">
            <a:avLst>
              <a:gd name="adj" fmla="val 149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110615" y="3021806"/>
            <a:ext cx="292119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Top-Rated Products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0615" y="3520440"/>
            <a:ext cx="3091101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 (3.86)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Sandals (3.84), and Boots (3.82) lead in customer satisfaction ratings.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5349" y="2774990"/>
            <a:ext cx="3584853" cy="2472928"/>
          </a:xfrm>
          <a:prstGeom prst="roundRect">
            <a:avLst>
              <a:gd name="adj" fmla="val 149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4942165" y="302180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Discount Leaders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42165" y="3520440"/>
            <a:ext cx="309122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 (50%)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Sneakers (49.66%), and Coat (49.07%) have highest discount purchase rates.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3798" y="5494734"/>
            <a:ext cx="7416403" cy="173259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110615" y="574155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Category Winners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10615" y="6240185"/>
            <a:ext cx="692277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Blouse (Clothing), Jewelry (Accessories), and Jacket (Outerwear) are most purchased in their categories.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80210"/>
            <a:ext cx="7212687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Segmentation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902" y="2875121"/>
            <a:ext cx="2128957" cy="844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5728" y="3169801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00675" y="3121938"/>
            <a:ext cx="129432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New (83)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215533" y="3734991"/>
            <a:ext cx="8489394" cy="15240"/>
          </a:xfrm>
          <a:prstGeom prst="roundRect">
            <a:avLst>
              <a:gd name="adj" fmla="val 242945"/>
            </a:avLst>
          </a:prstGeom>
          <a:solidFill>
            <a:srgbClr val="D8D4D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483" y="3781068"/>
            <a:ext cx="4257913" cy="8442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15847" y="3986213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6465213" y="4027884"/>
            <a:ext cx="22339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Returning (701)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80071" y="4640937"/>
            <a:ext cx="7424857" cy="15240"/>
          </a:xfrm>
          <a:prstGeom prst="roundRect">
            <a:avLst>
              <a:gd name="adj" fmla="val 242945"/>
            </a:avLst>
          </a:prstGeom>
          <a:solidFill>
            <a:srgbClr val="D8D4D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945" y="4687014"/>
            <a:ext cx="6386870" cy="8442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15847" y="4892159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Text 8"/>
          <p:cNvSpPr/>
          <p:nvPr/>
        </p:nvSpPr>
        <p:spPr>
          <a:xfrm>
            <a:off x="7529632" y="4933831"/>
            <a:ext cx="167985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Loyal (3,116)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63798" y="5808940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majority of customers (80%) fall into the Loyal segment with multiple purchases, while only 2% are new customers. This indicates strong retention but highlights the need for acquisition strategies.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615" y="573286"/>
            <a:ext cx="8390692" cy="592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Subscription &amp; Spending Patterns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2674977" y="2937629"/>
            <a:ext cx="2564368" cy="521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27%</a:t>
            </a:r>
            <a:endParaRPr lang="en-US" sz="4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633" y="1634609"/>
            <a:ext cx="3127296" cy="3127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615" y="5022413"/>
            <a:ext cx="6455331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Subscribers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390817" y="2937629"/>
            <a:ext cx="2564368" cy="521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73%</a:t>
            </a:r>
            <a:endParaRPr lang="en-US" sz="4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472" y="1634609"/>
            <a:ext cx="3127296" cy="31272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5454" y="5022413"/>
            <a:ext cx="6455331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Non-subscribers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29615" y="5506998"/>
            <a:ext cx="13171170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Only 1,053 customers (27%) have subscriptions, generating $62,645 in revenue.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29615" y="5991582"/>
            <a:ext cx="13171170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Among customers with 5+ purchases: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29615" y="6476167"/>
            <a:ext cx="13171170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958 are subscribers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29615" y="6861691"/>
            <a:ext cx="13171170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2,518 are non-subscribers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9615" y="7408783"/>
            <a:ext cx="13171170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 buyers show lower subscription rates, indicating untapped conversion potential.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075021"/>
            <a:ext cx="824865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Shipping &amp; Discount Impact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3269933"/>
            <a:ext cx="4136350" cy="2884527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095" y="3547229"/>
            <a:ext cx="358175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Express Shipping Premium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1095" y="4396502"/>
            <a:ext cx="358175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 shipping customers spend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$60.48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 average vs.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$58.46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standard—indicating willingness to pay more.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6965" y="3269933"/>
            <a:ext cx="4136350" cy="2884527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262" y="3547229"/>
            <a:ext cx="31889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Smart Discount Users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24262" y="4045863"/>
            <a:ext cx="358175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839 customers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used discounts but still spent above average ($59.76), showing discounts don't always reduce revenue.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30132" y="3269933"/>
            <a:ext cx="4136350" cy="2884527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7429" y="3547229"/>
            <a:ext cx="293346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Age Group Revenue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907429" y="4045863"/>
            <a:ext cx="358175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Young Adults lead with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$62,143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followed by Middle-aged ($59,197), Adult ($55,978), and Senior ($55,763).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320528"/>
            <a:ext cx="615029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Interactive Dashboard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969901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Power BI dashboard provides real-time visualization of customer behavior, revenue trends, and product performance across all segments and categories.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929" y="2351365"/>
            <a:ext cx="6150293" cy="3526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004" y="851654"/>
            <a:ext cx="7693462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Strategic Recommendations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4" y="1947148"/>
            <a:ext cx="1131451" cy="13576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9673" y="2173367"/>
            <a:ext cx="269712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Boost Subscriptions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149673" y="2630567"/>
            <a:ext cx="11688723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benefits to convert the 73% non-subscriber base, especially among repeat buyers.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4" y="3304818"/>
            <a:ext cx="1131451" cy="13576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49673" y="3531037"/>
            <a:ext cx="2571512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Loyalty Programs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149673" y="3988237"/>
            <a:ext cx="11688723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 accelerate movement into the Loyal segment and increase lifetime value.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4" y="4662488"/>
            <a:ext cx="1131451" cy="13576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49673" y="4888706"/>
            <a:ext cx="26505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Optimize Discounts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2149673" y="5345906"/>
            <a:ext cx="11688723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promotional strategies—839 high spenders used discounts, proving strategic discounting maintains margins.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4" y="6020157"/>
            <a:ext cx="1131451" cy="13576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49673" y="6246376"/>
            <a:ext cx="266783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Targeted Marketing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2149673" y="6703576"/>
            <a:ext cx="11688723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Young Adults and express-shipping users. Highlight top-rated products (Gloves, Sandals, Boots) in campaigns.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591</Words>
  <Application>Microsoft Office PowerPoint</Application>
  <PresentationFormat>Custom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 Bold</vt:lpstr>
      <vt:lpstr>Montserrat Light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CHETAN SHIMPI</cp:lastModifiedBy>
  <cp:revision>2</cp:revision>
  <dcterms:created xsi:type="dcterms:W3CDTF">2025-12-03T06:36:05Z</dcterms:created>
  <dcterms:modified xsi:type="dcterms:W3CDTF">2025-12-03T06:47:54Z</dcterms:modified>
</cp:coreProperties>
</file>